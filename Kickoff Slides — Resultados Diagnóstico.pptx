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21208"/>
          </a:xfrm>
          <a:prstGeom prst="rect">
            <a:avLst/>
          </a:prstGeom>
          <a:solidFill>
            <a:srgbClr val="0F3460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 Fricciones Críticas · Brand System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0" y="521208"/>
            <a:ext cx="9144000" cy="27432"/>
          </a:xfrm>
          <a:prstGeom prst="rect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56032" y="676656"/>
            <a:ext cx="4069080" cy="1261872"/>
          </a:xfrm>
          <a:prstGeom prst="rect">
            <a:avLst/>
          </a:prstGeom>
          <a:solidFill>
            <a:srgbClr val="0F3460"/>
          </a:solidFill>
          <a:ln w="12700">
            <a:solidFill>
              <a:srgbClr val="0F346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56032" y="676656"/>
            <a:ext cx="64008" cy="1261872"/>
          </a:xfrm>
          <a:prstGeom prst="rect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93192" y="740664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E9456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393192" y="1024128"/>
            <a:ext cx="38679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Token Gap</a:t>
            </a:r>
            <a:endParaRPr lang="en-US" sz="1550" dirty="0"/>
          </a:p>
        </p:txBody>
      </p:sp>
      <p:sp>
        <p:nvSpPr>
          <p:cNvPr id="9" name="Text 7"/>
          <p:cNvSpPr/>
          <p:nvPr/>
        </p:nvSpPr>
        <p:spPr>
          <a:xfrm>
            <a:off x="393192" y="1271016"/>
            <a:ext cx="38679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99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Desincronización Diseño↔Código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393192" y="1554480"/>
            <a:ext cx="38679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ECD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Tec   </a:t>
            </a:r>
            <a:pPr indent="0" marL="0">
              <a:buNone/>
            </a:pPr>
            <a:r>
              <a:rPr lang="en-US" sz="1000" dirty="0">
                <a:solidFill>
                  <a:srgbClr val="45B7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Design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93192" y="1737360"/>
            <a:ext cx="38679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i="1" dirty="0">
                <a:solidFill>
                  <a:srgbClr val="6677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n=9 evidencias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800600" y="676656"/>
            <a:ext cx="4069080" cy="1261872"/>
          </a:xfrm>
          <a:prstGeom prst="rect">
            <a:avLst/>
          </a:prstGeom>
          <a:solidFill>
            <a:srgbClr val="0F3460"/>
          </a:solidFill>
          <a:ln w="12700">
            <a:solidFill>
              <a:srgbClr val="0F346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800600" y="676656"/>
            <a:ext cx="64008" cy="1261872"/>
          </a:xfrm>
          <a:prstGeom prst="rect">
            <a:avLst/>
          </a:prstGeom>
          <a:solidFill>
            <a:srgbClr val="3B7DD8"/>
          </a:solidFill>
          <a:ln w="12700">
            <a:solidFill>
              <a:srgbClr val="3B7D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937760" y="740664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3B7DD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2100" dirty="0"/>
          </a:p>
        </p:txBody>
      </p:sp>
      <p:sp>
        <p:nvSpPr>
          <p:cNvPr id="15" name="Text 13"/>
          <p:cNvSpPr/>
          <p:nvPr/>
        </p:nvSpPr>
        <p:spPr>
          <a:xfrm>
            <a:off x="4937760" y="1024128"/>
            <a:ext cx="38679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Governance</a:t>
            </a:r>
            <a:endParaRPr lang="en-US" sz="1550" dirty="0"/>
          </a:p>
        </p:txBody>
      </p:sp>
      <p:sp>
        <p:nvSpPr>
          <p:cNvPr id="16" name="Text 14"/>
          <p:cNvSpPr/>
          <p:nvPr/>
        </p:nvSpPr>
        <p:spPr>
          <a:xfrm>
            <a:off x="4937760" y="1271016"/>
            <a:ext cx="38679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99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Gobierno y Versionado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4937760" y="1554480"/>
            <a:ext cx="38679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ECD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Tec   </a:t>
            </a:r>
            <a:pPr indent="0" marL="0">
              <a:buNone/>
            </a:pPr>
            <a:r>
              <a:rPr lang="en-US" sz="1000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Mkt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937760" y="1737360"/>
            <a:ext cx="38679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i="1" dirty="0">
                <a:solidFill>
                  <a:srgbClr val="6677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n=8 evidencias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256032" y="2103120"/>
            <a:ext cx="4069080" cy="1261872"/>
          </a:xfrm>
          <a:prstGeom prst="rect">
            <a:avLst/>
          </a:prstGeom>
          <a:solidFill>
            <a:srgbClr val="0F3460"/>
          </a:solidFill>
          <a:ln w="12700">
            <a:solidFill>
              <a:srgbClr val="0F346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256032" y="2103120"/>
            <a:ext cx="64008" cy="1261872"/>
          </a:xfrm>
          <a:prstGeom prst="rect">
            <a:avLst/>
          </a:prstGeom>
          <a:solidFill>
            <a:srgbClr val="E8872A"/>
          </a:solidFill>
          <a:ln w="12700">
            <a:solidFill>
              <a:srgbClr val="E8872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93192" y="2167128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E887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</a:t>
            </a:r>
            <a:endParaRPr lang="en-US" sz="2100" dirty="0"/>
          </a:p>
        </p:txBody>
      </p:sp>
      <p:sp>
        <p:nvSpPr>
          <p:cNvPr id="22" name="Text 20"/>
          <p:cNvSpPr/>
          <p:nvPr/>
        </p:nvSpPr>
        <p:spPr>
          <a:xfrm>
            <a:off x="393192" y="2450592"/>
            <a:ext cx="38679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Asset Drift</a:t>
            </a:r>
            <a:endParaRPr lang="en-US" sz="1550" dirty="0"/>
          </a:p>
        </p:txBody>
      </p:sp>
      <p:sp>
        <p:nvSpPr>
          <p:cNvPr id="23" name="Text 21"/>
          <p:cNvSpPr/>
          <p:nvPr/>
        </p:nvSpPr>
        <p:spPr>
          <a:xfrm>
            <a:off x="393192" y="2697480"/>
            <a:ext cx="38679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99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Assets Visuales Desactualizados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393192" y="2980944"/>
            <a:ext cx="38679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Mkt   </a:t>
            </a:r>
            <a:pPr indent="0" marL="0">
              <a:buNone/>
            </a:pPr>
            <a:r>
              <a:rPr lang="en-US" sz="1000" dirty="0">
                <a:solidFill>
                  <a:srgbClr val="45B7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Design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393192" y="3163824"/>
            <a:ext cx="38679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i="1" dirty="0">
                <a:solidFill>
                  <a:srgbClr val="6677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n=6 evidencias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4800600" y="2103120"/>
            <a:ext cx="4069080" cy="1261872"/>
          </a:xfrm>
          <a:prstGeom prst="rect">
            <a:avLst/>
          </a:prstGeom>
          <a:solidFill>
            <a:srgbClr val="0F3460"/>
          </a:solidFill>
          <a:ln w="12700">
            <a:solidFill>
              <a:srgbClr val="0F346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5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800600" y="2103120"/>
            <a:ext cx="64008" cy="1261872"/>
          </a:xfrm>
          <a:prstGeom prst="rect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937760" y="2167128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2ECC7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04</a:t>
            </a:r>
            <a:endParaRPr lang="en-US" sz="2100" dirty="0"/>
          </a:p>
        </p:txBody>
      </p:sp>
      <p:sp>
        <p:nvSpPr>
          <p:cNvPr id="29" name="Text 27"/>
          <p:cNvSpPr/>
          <p:nvPr/>
        </p:nvSpPr>
        <p:spPr>
          <a:xfrm>
            <a:off x="4937760" y="2450592"/>
            <a:ext cx="38679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Distribution</a:t>
            </a:r>
            <a:endParaRPr lang="en-US" sz="1550" dirty="0"/>
          </a:p>
        </p:txBody>
      </p:sp>
      <p:sp>
        <p:nvSpPr>
          <p:cNvPr id="30" name="Text 28"/>
          <p:cNvSpPr/>
          <p:nvPr/>
        </p:nvSpPr>
        <p:spPr>
          <a:xfrm>
            <a:off x="4937760" y="2697480"/>
            <a:ext cx="38679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99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Accesibilidad y Distribución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4937760" y="2980944"/>
            <a:ext cx="38679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Mkt   </a:t>
            </a:r>
            <a:pPr indent="0" marL="0">
              <a:buNone/>
            </a:pPr>
            <a:r>
              <a:rPr lang="en-US" sz="1000" dirty="0">
                <a:solidFill>
                  <a:srgbClr val="4ECD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Tec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4937760" y="3163824"/>
            <a:ext cx="38679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i="1" dirty="0">
                <a:solidFill>
                  <a:srgbClr val="6677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n=6 evidencias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2537460" y="3529584"/>
            <a:ext cx="4069080" cy="1097280"/>
          </a:xfrm>
          <a:prstGeom prst="rect">
            <a:avLst/>
          </a:prstGeom>
          <a:solidFill>
            <a:srgbClr val="0F3460"/>
          </a:solidFill>
          <a:ln w="12700">
            <a:solidFill>
              <a:srgbClr val="0F346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5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2537460" y="3529584"/>
            <a:ext cx="64008" cy="1097280"/>
          </a:xfrm>
          <a:prstGeom prst="rect">
            <a:avLst/>
          </a:prstGeom>
          <a:solidFill>
            <a:srgbClr val="9B59B6"/>
          </a:solidFill>
          <a:ln w="12700">
            <a:solidFill>
              <a:srgbClr val="9B59B6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2674620" y="3593592"/>
            <a:ext cx="502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9B59B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05</a:t>
            </a:r>
            <a:endParaRPr lang="en-US" sz="1900" dirty="0"/>
          </a:p>
        </p:txBody>
      </p:sp>
      <p:sp>
        <p:nvSpPr>
          <p:cNvPr id="36" name="Text 34"/>
          <p:cNvSpPr/>
          <p:nvPr/>
        </p:nvSpPr>
        <p:spPr>
          <a:xfrm>
            <a:off x="2674620" y="3822192"/>
            <a:ext cx="38679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Onboarding</a:t>
            </a:r>
            <a:endParaRPr lang="en-US" sz="1500" dirty="0"/>
          </a:p>
        </p:txBody>
      </p:sp>
      <p:sp>
        <p:nvSpPr>
          <p:cNvPr id="37" name="Text 35"/>
          <p:cNvSpPr/>
          <p:nvPr/>
        </p:nvSpPr>
        <p:spPr>
          <a:xfrm>
            <a:off x="2674620" y="4041648"/>
            <a:ext cx="38679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99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Capacitación y Documentación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2674620" y="4261104"/>
            <a:ext cx="38679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ECD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Tec   </a:t>
            </a:r>
            <a:pPr indent="0" marL="0">
              <a:buNone/>
            </a:pPr>
            <a:r>
              <a:rPr lang="en-US" sz="1000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Mkt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2674620" y="4453128"/>
            <a:ext cx="386791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i="1" dirty="0">
                <a:solidFill>
                  <a:srgbClr val="6677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n=5 evidencias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0" y="4718304"/>
            <a:ext cx="9144000" cy="425196"/>
          </a:xfrm>
          <a:prstGeom prst="rect">
            <a:avLst/>
          </a:prstGeom>
          <a:solidFill>
            <a:srgbClr val="0F3460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0" y="4718304"/>
            <a:ext cx="9144000" cy="4251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Marketing n=5  ·  Tecnología n=9  ·  Product Design n=2  ·  Total: 16 respuestas  ·  Jun 2026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Lo que encontramos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0" y="566928"/>
            <a:ext cx="9144000" cy="27432"/>
          </a:xfrm>
          <a:prstGeom prst="rect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594360"/>
            <a:ext cx="3931920" cy="454914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01168" y="749808"/>
            <a:ext cx="36758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250" kern="0" dirty="0">
                <a:solidFill>
                  <a:srgbClr val="AABB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HALLAZGOS CUANTITATIVOS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91440" y="960120"/>
            <a:ext cx="376732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0" b="1" dirty="0">
                <a:solidFill>
                  <a:srgbClr val="E9456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75%</a:t>
            </a:r>
            <a:endParaRPr lang="en-US" sz="8200" dirty="0"/>
          </a:p>
        </p:txBody>
      </p:sp>
      <p:sp>
        <p:nvSpPr>
          <p:cNvPr id="8" name="Text 6"/>
          <p:cNvSpPr/>
          <p:nvPr/>
        </p:nvSpPr>
        <p:spPr>
          <a:xfrm>
            <a:off x="201168" y="1911096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BB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reporta fricciones de alta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BB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muy alta frecuencia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201168" y="2514600"/>
            <a:ext cx="3474720" cy="22860"/>
          </a:xfrm>
          <a:prstGeom prst="rect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" y="2587752"/>
            <a:ext cx="376732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4ECDC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2-3h</a:t>
            </a:r>
            <a:endParaRPr lang="en-US" sz="7200" dirty="0"/>
          </a:p>
        </p:txBody>
      </p:sp>
      <p:sp>
        <p:nvSpPr>
          <p:cNvPr id="11" name="Text 9"/>
          <p:cNvSpPr/>
          <p:nvPr/>
        </p:nvSpPr>
        <p:spPr>
          <a:xfrm>
            <a:off x="201168" y="3392424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BB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perdidas por semana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BB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persona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128016" y="4050792"/>
            <a:ext cx="3712464" cy="566928"/>
          </a:xfrm>
          <a:prstGeom prst="rect">
            <a:avLst/>
          </a:prstGeom>
          <a:solidFill>
            <a:srgbClr val="1E2B4A"/>
          </a:solidFill>
          <a:ln w="12700">
            <a:solidFill>
              <a:srgbClr val="FFCC0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82880" y="4087368"/>
            <a:ext cx="3621024" cy="49377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C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Product Design subrepresentado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FC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(12.5% de respuestas — n=2)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096512" y="676656"/>
            <a:ext cx="4956048" cy="996696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096512" y="676656"/>
            <a:ext cx="64008" cy="996696"/>
          </a:xfrm>
          <a:prstGeom prst="rect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224528" y="749808"/>
            <a:ext cx="347472" cy="182880"/>
          </a:xfrm>
          <a:prstGeom prst="rect">
            <a:avLst/>
          </a:prstGeom>
          <a:solidFill>
            <a:srgbClr val="4ECDC4"/>
          </a:solidFill>
          <a:ln w="12700">
            <a:solidFill>
              <a:srgbClr val="4ECDC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224528" y="749808"/>
            <a:ext cx="3474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</a:t>
            </a:r>
            <a:endParaRPr lang="en-US" sz="750" dirty="0"/>
          </a:p>
        </p:txBody>
      </p:sp>
      <p:sp>
        <p:nvSpPr>
          <p:cNvPr id="18" name="Text 16"/>
          <p:cNvSpPr/>
          <p:nvPr/>
        </p:nvSpPr>
        <p:spPr>
          <a:xfrm>
            <a:off x="4645152" y="740664"/>
            <a:ext cx="429768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i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"Los tokens de color en Figma no coinciden</a:t>
            </a:r>
            <a:endParaRPr lang="en-US" sz="1150" dirty="0"/>
          </a:p>
          <a:p>
            <a:pPr indent="0" marL="0">
              <a:buNone/>
            </a:pPr>
            <a:r>
              <a:rPr lang="en-US" sz="1150" i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lo que tenemos en código"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4645152" y="1435608"/>
            <a:ext cx="4297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000" b="1" dirty="0">
                <a:solidFill>
                  <a:srgbClr val="A800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Dev · Token Gap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096512" y="1764792"/>
            <a:ext cx="4956048" cy="996696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096512" y="1764792"/>
            <a:ext cx="64008" cy="996696"/>
          </a:xfrm>
          <a:prstGeom prst="rect">
            <a:avLst/>
          </a:prstGeom>
          <a:solidFill>
            <a:srgbClr val="3B7DD8"/>
          </a:solidFill>
          <a:ln w="12700">
            <a:solidFill>
              <a:srgbClr val="3B7DD8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224528" y="1837944"/>
            <a:ext cx="347472" cy="182880"/>
          </a:xfrm>
          <a:prstGeom prst="rect">
            <a:avLst/>
          </a:prstGeom>
          <a:solidFill>
            <a:srgbClr val="4ECDC4"/>
          </a:solidFill>
          <a:ln w="12700">
            <a:solidFill>
              <a:srgbClr val="4ECDC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224528" y="1837944"/>
            <a:ext cx="3474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</a:t>
            </a:r>
            <a:endParaRPr lang="en-US" sz="750" dirty="0"/>
          </a:p>
        </p:txBody>
      </p:sp>
      <p:sp>
        <p:nvSpPr>
          <p:cNvPr id="24" name="Text 22"/>
          <p:cNvSpPr/>
          <p:nvPr/>
        </p:nvSpPr>
        <p:spPr>
          <a:xfrm>
            <a:off x="4645152" y="1828800"/>
            <a:ext cx="429768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i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"No hay una fuente de verdad clara para</a:t>
            </a:r>
            <a:endParaRPr lang="en-US" sz="1150" dirty="0"/>
          </a:p>
          <a:p>
            <a:pPr indent="0" marL="0">
              <a:buNone/>
            </a:pPr>
            <a:r>
              <a:rPr lang="en-US" sz="1150" i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saber qué versión del sistema usar"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4645152" y="2523744"/>
            <a:ext cx="4297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000" b="1" dirty="0">
                <a:solidFill>
                  <a:srgbClr val="1738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Dev · Governance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096512" y="2852928"/>
            <a:ext cx="4956048" cy="996696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5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096512" y="2852928"/>
            <a:ext cx="64008" cy="996696"/>
          </a:xfrm>
          <a:prstGeom prst="rect">
            <a:avLst/>
          </a:prstGeom>
          <a:solidFill>
            <a:srgbClr val="E8872A"/>
          </a:solidFill>
          <a:ln w="12700">
            <a:solidFill>
              <a:srgbClr val="E8872A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224528" y="2926080"/>
            <a:ext cx="347472" cy="182880"/>
          </a:xfrm>
          <a:prstGeom prst="rect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224528" y="2926080"/>
            <a:ext cx="3474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MKT</a:t>
            </a:r>
            <a:endParaRPr lang="en-US" sz="750" dirty="0"/>
          </a:p>
        </p:txBody>
      </p:sp>
      <p:sp>
        <p:nvSpPr>
          <p:cNvPr id="30" name="Text 28"/>
          <p:cNvSpPr/>
          <p:nvPr/>
        </p:nvSpPr>
        <p:spPr>
          <a:xfrm>
            <a:off x="4645152" y="2916936"/>
            <a:ext cx="429768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i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"Los logos y colores en campañas ya no</a:t>
            </a:r>
            <a:endParaRPr lang="en-US" sz="1150" dirty="0"/>
          </a:p>
          <a:p>
            <a:pPr indent="0" marL="0">
              <a:buNone/>
            </a:pPr>
            <a:r>
              <a:rPr lang="en-US" sz="1150" i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 los mismos que los de producto"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4645152" y="3611880"/>
            <a:ext cx="4297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000" b="1" dirty="0">
                <a:solidFill>
                  <a:srgbClr val="964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Mkt · Asset Drift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4096512" y="3941064"/>
            <a:ext cx="4956048" cy="996696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5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4096512" y="3941064"/>
            <a:ext cx="64008" cy="996696"/>
          </a:xfrm>
          <a:prstGeom prst="rect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224528" y="4014216"/>
            <a:ext cx="347472" cy="182880"/>
          </a:xfrm>
          <a:prstGeom prst="rect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224528" y="4014216"/>
            <a:ext cx="3474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MKT</a:t>
            </a:r>
            <a:endParaRPr lang="en-US" sz="750" dirty="0"/>
          </a:p>
        </p:txBody>
      </p:sp>
      <p:sp>
        <p:nvSpPr>
          <p:cNvPr id="36" name="Text 34"/>
          <p:cNvSpPr/>
          <p:nvPr/>
        </p:nvSpPr>
        <p:spPr>
          <a:xfrm>
            <a:off x="4645152" y="4005072"/>
            <a:ext cx="429768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i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"Pierdo tiempo buscando dónde están</a:t>
            </a:r>
            <a:endParaRPr lang="en-US" sz="1150" dirty="0"/>
          </a:p>
          <a:p>
            <a:pPr indent="0" marL="0">
              <a:buNone/>
            </a:pPr>
            <a:r>
              <a:rPr lang="en-US" sz="1150" i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assets actualizados"</a:t>
            </a:r>
            <a:endParaRPr lang="en-US" sz="1150" dirty="0"/>
          </a:p>
        </p:txBody>
      </p:sp>
      <p:sp>
        <p:nvSpPr>
          <p:cNvPr id="37" name="Text 35"/>
          <p:cNvSpPr/>
          <p:nvPr/>
        </p:nvSpPr>
        <p:spPr>
          <a:xfrm>
            <a:off x="4645152" y="4700016"/>
            <a:ext cx="4297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000" b="1" dirty="0">
                <a:solidFill>
                  <a:srgbClr val="006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Mkt · Distribution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Resultados del Diagnóstico</dc:title>
  <dc:subject>PptxGenJS Presentation</dc:subject>
  <dc:creator>Later: Brand System</dc:creator>
  <cp:lastModifiedBy>Later: Brand System</cp:lastModifiedBy>
  <cp:revision>1</cp:revision>
  <dcterms:created xsi:type="dcterms:W3CDTF">2026-06-18T16:24:25Z</dcterms:created>
  <dcterms:modified xsi:type="dcterms:W3CDTF">2026-06-18T16:24:25Z</dcterms:modified>
</cp:coreProperties>
</file>