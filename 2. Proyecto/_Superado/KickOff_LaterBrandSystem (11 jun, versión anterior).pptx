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C89B4D"/>
          </a:solidFill>
          <a:ln w="12700">
            <a:solidFill>
              <a:srgbClr val="C89B4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347472" cy="5143500"/>
          </a:xfrm>
          <a:prstGeom prst="rect">
            <a:avLst/>
          </a:prstGeom>
          <a:solidFill>
            <a:srgbClr val="243659">
              <a:alpha val="45000"/>
            </a:srgbClr>
          </a:solidFill>
          <a:ln w="12700">
            <a:solidFill>
              <a:srgbClr val="24365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06640" y="0"/>
            <a:ext cx="347472" cy="5143500"/>
          </a:xfrm>
          <a:prstGeom prst="rect">
            <a:avLst/>
          </a:prstGeom>
          <a:solidFill>
            <a:srgbClr val="243659">
              <a:alpha val="45000"/>
            </a:srgbClr>
          </a:solidFill>
          <a:ln w="12700">
            <a:solidFill>
              <a:srgbClr val="24365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0" y="0"/>
            <a:ext cx="347472" cy="5143500"/>
          </a:xfrm>
          <a:prstGeom prst="rect">
            <a:avLst/>
          </a:prstGeom>
          <a:solidFill>
            <a:srgbClr val="243659">
              <a:alpha val="45000"/>
            </a:srgbClr>
          </a:solidFill>
          <a:ln w="12700">
            <a:solidFill>
              <a:srgbClr val="24365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03920" y="0"/>
            <a:ext cx="347472" cy="5143500"/>
          </a:xfrm>
          <a:prstGeom prst="rect">
            <a:avLst/>
          </a:prstGeom>
          <a:solidFill>
            <a:srgbClr val="243659">
              <a:alpha val="45000"/>
            </a:srgbClr>
          </a:solidFill>
          <a:ln w="12700">
            <a:solidFill>
              <a:srgbClr val="24365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61120" y="0"/>
            <a:ext cx="347472" cy="5143500"/>
          </a:xfrm>
          <a:prstGeom prst="rect">
            <a:avLst/>
          </a:prstGeom>
          <a:solidFill>
            <a:srgbClr val="243659">
              <a:alpha val="45000"/>
            </a:srgbClr>
          </a:solidFill>
          <a:ln w="12700">
            <a:solidFill>
              <a:srgbClr val="24365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280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89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LADRILLOS  ·  RENOVARE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169164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Later: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731520" y="2423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C89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System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731520" y="33375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Kickoff — Fase 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1520" y="4297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28600"/>
            <a:ext cx="2194560" cy="292608"/>
          </a:xfrm>
          <a:prstGeom prst="rect">
            <a:avLst/>
          </a:prstGeom>
          <a:solidFill>
            <a:srgbClr val="C89B4D"/>
          </a:solidFill>
          <a:ln w="12700">
            <a:solidFill>
              <a:srgbClr val="C89B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2860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4A"/>
                </a:solidFill>
              </a:rPr>
              <a:t>CONTEXTO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64008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¿De dónde venimos?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1371600"/>
            <a:ext cx="85039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508760"/>
            <a:ext cx="40233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508760"/>
            <a:ext cx="4023360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50876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C89B4D"/>
                </a:solidFill>
              </a:rPr>
              <a:t>RENOVARE FASE 1  ·  Brand Sprint 2024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" y="2157984"/>
            <a:ext cx="109728" cy="109728"/>
          </a:xfrm>
          <a:prstGeom prst="ellipse">
            <a:avLst/>
          </a:prstGeom>
          <a:solidFill>
            <a:srgbClr val="C89B4D"/>
          </a:solidFill>
          <a:ln w="12700">
            <a:solidFill>
              <a:srgbClr val="C89B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208483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Brand Book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13232" y="234086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Identidad visual unificada — logo, color, tipografía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" y="2807208"/>
            <a:ext cx="109728" cy="109728"/>
          </a:xfrm>
          <a:prstGeom prst="ellipse">
            <a:avLst/>
          </a:prstGeom>
          <a:solidFill>
            <a:srgbClr val="C89B4D"/>
          </a:solidFill>
          <a:ln w="12700">
            <a:solidFill>
              <a:srgbClr val="C89B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2734056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Design System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13232" y="299008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Componentes en Figma con tokens primitivos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" y="3456432"/>
            <a:ext cx="109728" cy="109728"/>
          </a:xfrm>
          <a:prstGeom prst="ellipse">
            <a:avLst/>
          </a:prstGeom>
          <a:solidFill>
            <a:srgbClr val="C89B4D"/>
          </a:solidFill>
          <a:ln w="12700">
            <a:solidFill>
              <a:srgbClr val="C89B4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338328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Guidelines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13232" y="363931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Voz, tono y principios de marca documentados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" y="4105656"/>
            <a:ext cx="109728" cy="109728"/>
          </a:xfrm>
          <a:prstGeom prst="ellipse">
            <a:avLst/>
          </a:prstGeom>
          <a:solidFill>
            <a:srgbClr val="C89B4D"/>
          </a:solidFill>
          <a:ln w="12700">
            <a:solidFill>
              <a:srgbClr val="C89B4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" y="4032504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Foundations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13232" y="428853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Espaciado, iconografía, sombras y radios definidos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17720" y="1508760"/>
            <a:ext cx="42062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17720" y="1508760"/>
            <a:ext cx="420624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17720" y="150876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</a:rPr>
              <a:t>EL PROBLEMA  ·  HOY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73168" y="2157984"/>
            <a:ext cx="109728" cy="10972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92624" y="20848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Figma ≠ Código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92624" y="23408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Lo que está en diseño no existe en implementación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73168" y="2807208"/>
            <a:ext cx="109728" cy="10972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92624" y="27340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Sin pipeline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992624" y="2990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No hay proceso para exportar tokens a código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73168" y="3456432"/>
            <a:ext cx="109728" cy="10972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92624" y="33832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Sin fuente de verdad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992624" y="36393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Cada equipo busca en su propio lugar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73168" y="4105656"/>
            <a:ext cx="109728" cy="10972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92624" y="40325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Deuda técnica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992624" y="428853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Cada corrección posterior cuesta más que prevenirla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28600"/>
            <a:ext cx="2194560" cy="292608"/>
          </a:xfrm>
          <a:prstGeom prst="rect">
            <a:avLst/>
          </a:prstGeom>
          <a:solidFill>
            <a:srgbClr val="C89B4D"/>
          </a:solidFill>
          <a:ln w="12700">
            <a:solidFill>
              <a:srgbClr val="C89B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2860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4A"/>
                </a:solidFill>
              </a:rPr>
              <a:t>VOZ DE LOS EQUIPOS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64008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está fallando? · Feedback de los equipos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1371600"/>
            <a:ext cx="85039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508760"/>
            <a:ext cx="8503920" cy="3017520"/>
          </a:xfrm>
          <a:prstGeom prst="rect">
            <a:avLst/>
          </a:prstGeom>
          <a:solidFill>
            <a:srgbClr val="FFFFFF"/>
          </a:solidFill>
          <a:ln w="25400">
            <a:solidFill>
              <a:srgbClr val="E5E7EB"/>
            </a:solidFill>
            <a:prstDash val="dash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508760"/>
            <a:ext cx="8503920" cy="73152"/>
          </a:xfrm>
          <a:prstGeom prst="rect">
            <a:avLst/>
          </a:prstGeom>
          <a:solidFill>
            <a:srgbClr val="C89B4D"/>
          </a:solidFill>
          <a:ln w="12700">
            <a:solidFill>
              <a:srgbClr val="C89B4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0" y="2075688"/>
            <a:ext cx="100584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53712" y="2194560"/>
            <a:ext cx="777240" cy="384048"/>
          </a:xfrm>
          <a:prstGeom prst="rect">
            <a:avLst/>
          </a:prstGeom>
          <a:solidFill>
            <a:srgbClr val="C89B4D"/>
          </a:solidFill>
          <a:ln w="12700">
            <a:solidFill>
              <a:srgbClr val="C89B4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04104" y="2322576"/>
            <a:ext cx="59436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71600" y="2816352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4A"/>
                </a:solidFill>
              </a:rPr>
              <a:t>Resultados de la encuesta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828800" y="333756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Los insights de los equipos irán aquí una vez procesadas las respuestas.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828800" y="3712464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9B4D"/>
                </a:solidFill>
              </a:rPr>
              <a:t>Marketing  ·  Product Design  ·  Tecnología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0" y="4005072"/>
            <a:ext cx="3657600" cy="34747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0" y="400507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Pendiente  —  Resultados disponibles antes del Kickoff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C89B4D"/>
          </a:solidFill>
          <a:ln w="12700">
            <a:solidFill>
              <a:srgbClr val="C89B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89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 EL PROYECTO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Llevar el Brand System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Figma a código.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731520" y="2606040"/>
            <a:ext cx="2286000" cy="0"/>
          </a:xfrm>
          <a:prstGeom prst="line">
            <a:avLst/>
          </a:prstGeom>
          <a:noFill/>
          <a:ln w="25400">
            <a:solidFill>
              <a:srgbClr val="C89B4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852928"/>
            <a:ext cx="36576" cy="274320"/>
          </a:xfrm>
          <a:prstGeom prst="rect">
            <a:avLst/>
          </a:prstGeom>
          <a:solidFill>
            <a:srgbClr val="C89B4D"/>
          </a:solidFill>
          <a:ln w="12700">
            <a:solidFill>
              <a:srgbClr val="C89B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83464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</a:rPr>
              <a:t>Alinear Marketing, Product Design y Tecnología en un mismo sistema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3310128"/>
            <a:ext cx="36576" cy="274320"/>
          </a:xfrm>
          <a:prstGeom prst="rect">
            <a:avLst/>
          </a:prstGeom>
          <a:solidFill>
            <a:srgbClr val="C89B4D"/>
          </a:solidFill>
          <a:ln w="12700">
            <a:solidFill>
              <a:srgbClr val="C89B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29184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</a:rPr>
              <a:t>Crear un pipeline automatizado: Figma → tokens → código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3767328"/>
            <a:ext cx="36576" cy="274320"/>
          </a:xfrm>
          <a:prstGeom prst="rect">
            <a:avLst/>
          </a:prstGeom>
          <a:solidFill>
            <a:srgbClr val="C89B4D"/>
          </a:solidFill>
          <a:ln w="12700">
            <a:solidFill>
              <a:srgbClr val="C89B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74904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</a:rPr>
              <a:t>Establecer una fuente de verdad centralizada para los 3 equipos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4224528"/>
            <a:ext cx="36576" cy="274320"/>
          </a:xfrm>
          <a:prstGeom prst="rect">
            <a:avLst/>
          </a:prstGeom>
          <a:solidFill>
            <a:srgbClr val="C89B4D"/>
          </a:solidFill>
          <a:ln w="12700">
            <a:solidFill>
              <a:srgbClr val="C89B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20624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</a:rPr>
              <a:t>Reducir fricción, inconsistencias y deuda técnica en producción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28600"/>
            <a:ext cx="2194560" cy="292608"/>
          </a:xfrm>
          <a:prstGeom prst="rect">
            <a:avLst/>
          </a:prstGeom>
          <a:solidFill>
            <a:srgbClr val="C89B4D"/>
          </a:solidFill>
          <a:ln w="12700">
            <a:solidFill>
              <a:srgbClr val="C89B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2860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4A"/>
                </a:solidFill>
              </a:rPr>
              <a:t>ALCANCE FASE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64008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incluye este proyecto?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1371600"/>
            <a:ext cx="85039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508760"/>
            <a:ext cx="40690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508760"/>
            <a:ext cx="406908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508760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</a:rPr>
              <a:t>EN ALCANCE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157984"/>
            <a:ext cx="109728" cy="10972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2048256"/>
            <a:ext cx="3456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Design tokens en Figma (primitivos + semánticos)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633472"/>
            <a:ext cx="109728" cy="10972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2523744"/>
            <a:ext cx="3456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Pipeline Figma → Style Dictionary → GitHub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108960"/>
            <a:ext cx="109728" cy="10972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2999232"/>
            <a:ext cx="3456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Fuente de verdad centralizada (herramienta TBD)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3584448"/>
            <a:ext cx="109728" cy="10972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3474720"/>
            <a:ext cx="3456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Componentes core en código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4059936"/>
            <a:ext cx="109728" cy="10972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3950208"/>
            <a:ext cx="3456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Automatización IA + MCP Claude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4535424"/>
            <a:ext cx="109728" cy="10972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" y="4425696"/>
            <a:ext cx="3456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QA paridad diseño ↔ código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17720" y="1508760"/>
            <a:ext cx="42062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17720" y="1508760"/>
            <a:ext cx="4206240" cy="384048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17720" y="150876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</a:rPr>
              <a:t>FUERA DE ALCANCE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73168" y="2048256"/>
            <a:ext cx="256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280"/>
                </a:solidFill>
              </a:rPr>
              <a:t>—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74920" y="204825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Rediseño del Brand Book o identidad de marca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73168" y="2523744"/>
            <a:ext cx="256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280"/>
                </a:solidFill>
              </a:rPr>
              <a:t>—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74920" y="252374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Desarrollo de nuevos componentes de producto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773168" y="2999232"/>
            <a:ext cx="256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280"/>
                </a:solidFill>
              </a:rPr>
              <a:t>—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074920" y="299923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Distribución a WebApp (Fase 3 posterior)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73168" y="3474720"/>
            <a:ext cx="256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280"/>
                </a:solidFill>
              </a:rPr>
              <a:t>—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074920" y="34747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Integración con canales de marketing externos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773168" y="3950208"/>
            <a:ext cx="256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280"/>
                </a:solidFill>
              </a:rPr>
              <a:t>—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074920" y="395020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Diseño de nuevas pantallas o flujos de usuario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9B4D"/>
          </a:solidFill>
          <a:ln w="12700">
            <a:solidFill>
              <a:srgbClr val="C89B4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28600"/>
            <a:ext cx="2194560" cy="292608"/>
          </a:xfrm>
          <a:prstGeom prst="rect">
            <a:avLst/>
          </a:prstGeom>
          <a:solidFill>
            <a:srgbClr val="C89B4D"/>
          </a:solidFill>
          <a:ln w="12700">
            <a:solidFill>
              <a:srgbClr val="C89B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2860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4A"/>
                </a:solidFill>
              </a:rPr>
              <a:t>ARQUITECTURA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64008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pipeline: de Figma a código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1371600"/>
            <a:ext cx="85039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508760"/>
            <a:ext cx="1417320" cy="16002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160020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C978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19202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Figma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423160"/>
            <a:ext cx="1051560" cy="0"/>
          </a:xfrm>
          <a:prstGeom prst="line">
            <a:avLst/>
          </a:prstGeom>
          <a:noFill/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2514600"/>
            <a:ext cx="1271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Design Tokens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Fundations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801368" y="2272284"/>
            <a:ext cx="228600" cy="73152"/>
          </a:xfrm>
          <a:prstGeom prst="rect">
            <a:avLst/>
          </a:prstGeom>
          <a:solidFill>
            <a:srgbClr val="C89B4D"/>
          </a:solidFill>
          <a:ln w="12700">
            <a:solidFill>
              <a:srgbClr val="C89B4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38528" y="2199132"/>
            <a:ext cx="128016" cy="219456"/>
          </a:xfrm>
          <a:prstGeom prst="rect">
            <a:avLst/>
          </a:prstGeom>
          <a:solidFill>
            <a:srgbClr val="C89B4D"/>
          </a:solidFill>
          <a:ln w="12700">
            <a:solidFill>
              <a:srgbClr val="C89B4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84832" y="1508760"/>
            <a:ext cx="1417320" cy="1600200"/>
          </a:xfrm>
          <a:prstGeom prst="rect">
            <a:avLst/>
          </a:prstGeom>
          <a:solidFill>
            <a:srgbClr val="243659"/>
          </a:solidFill>
          <a:ln w="12700">
            <a:solidFill>
              <a:srgbClr val="24365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084832" y="160020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C978"/>
                </a:solidFill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130552" y="19202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Style Dictionary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267712" y="2423160"/>
            <a:ext cx="1051560" cy="0"/>
          </a:xfrm>
          <a:prstGeom prst="line">
            <a:avLst/>
          </a:prstGeom>
          <a:noFill/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57984" y="2514600"/>
            <a:ext cx="1271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Transformación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y exportación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520440" y="2272284"/>
            <a:ext cx="228600" cy="73152"/>
          </a:xfrm>
          <a:prstGeom prst="rect">
            <a:avLst/>
          </a:prstGeom>
          <a:solidFill>
            <a:srgbClr val="C89B4D"/>
          </a:solidFill>
          <a:ln w="12700">
            <a:solidFill>
              <a:srgbClr val="C89B4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0" y="2199132"/>
            <a:ext cx="128016" cy="219456"/>
          </a:xfrm>
          <a:prstGeom prst="rect">
            <a:avLst/>
          </a:prstGeom>
          <a:solidFill>
            <a:srgbClr val="C89B4D"/>
          </a:solidFill>
          <a:ln w="12700">
            <a:solidFill>
              <a:srgbClr val="C89B4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03904" y="1508760"/>
            <a:ext cx="1417320" cy="1600200"/>
          </a:xfrm>
          <a:prstGeom prst="rect">
            <a:avLst/>
          </a:prstGeom>
          <a:solidFill>
            <a:srgbClr val="2D333B"/>
          </a:solidFill>
          <a:ln w="12700">
            <a:solidFill>
              <a:srgbClr val="2D33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803904" y="160020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C978"/>
                </a:solidFill>
              </a:rPr>
              <a:t>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849624" y="19202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GitHub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986784" y="2423160"/>
            <a:ext cx="1051560" cy="0"/>
          </a:xfrm>
          <a:prstGeom prst="line">
            <a:avLst/>
          </a:prstGeom>
          <a:noFill/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77056" y="2514600"/>
            <a:ext cx="1271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Control de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versiones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239512" y="2272284"/>
            <a:ext cx="228600" cy="73152"/>
          </a:xfrm>
          <a:prstGeom prst="rect">
            <a:avLst/>
          </a:prstGeom>
          <a:solidFill>
            <a:srgbClr val="C89B4D"/>
          </a:solidFill>
          <a:ln w="12700">
            <a:solidFill>
              <a:srgbClr val="C89B4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76672" y="2199132"/>
            <a:ext cx="128016" cy="219456"/>
          </a:xfrm>
          <a:prstGeom prst="rect">
            <a:avLst/>
          </a:prstGeom>
          <a:solidFill>
            <a:srgbClr val="C89B4D"/>
          </a:solidFill>
          <a:ln w="12700">
            <a:solidFill>
              <a:srgbClr val="C89B4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522976" y="1508760"/>
            <a:ext cx="1417320" cy="16002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522976" y="160020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C978"/>
                </a:solidFill>
              </a:rPr>
              <a:t>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568696" y="19202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Fuente de Verdad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705856" y="2423160"/>
            <a:ext cx="1051560" cy="0"/>
          </a:xfrm>
          <a:prstGeom prst="line">
            <a:avLst/>
          </a:prstGeom>
          <a:noFill/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96128" y="2514600"/>
            <a:ext cx="1271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Documentación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centralizada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958584" y="2272284"/>
            <a:ext cx="228600" cy="73152"/>
          </a:xfrm>
          <a:prstGeom prst="rect">
            <a:avLst/>
          </a:prstGeom>
          <a:solidFill>
            <a:srgbClr val="C89B4D"/>
          </a:solidFill>
          <a:ln w="12700">
            <a:solidFill>
              <a:srgbClr val="C89B4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095744" y="2199132"/>
            <a:ext cx="128016" cy="219456"/>
          </a:xfrm>
          <a:prstGeom prst="rect">
            <a:avLst/>
          </a:prstGeom>
          <a:solidFill>
            <a:srgbClr val="C89B4D"/>
          </a:solidFill>
          <a:ln w="12700">
            <a:solidFill>
              <a:srgbClr val="C89B4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42048" y="1508760"/>
            <a:ext cx="1417320" cy="16002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7242048" y="160020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C978"/>
                </a:solidFill>
              </a:rPr>
              <a:t>5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287768" y="19202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Código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7424928" y="2423160"/>
            <a:ext cx="1051560" cy="0"/>
          </a:xfrm>
          <a:prstGeom prst="line">
            <a:avLst/>
          </a:prstGeom>
          <a:noFill/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315200" y="2514600"/>
            <a:ext cx="1271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CSS / JS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Componentes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20040" y="329184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</a:rPr>
              <a:t>+ Automatización IA  ·  Claude + Figma MCP → flujo diseño-a-código asistido por inteligencia artificial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320040" y="3703320"/>
            <a:ext cx="8503920" cy="8686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8640" y="370332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Meta: tokens primitivos y semánticos de Figma → CSS/JS disponibles en código con un solo comando, documentados y versionados.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28600"/>
            <a:ext cx="2194560" cy="292608"/>
          </a:xfrm>
          <a:prstGeom prst="rect">
            <a:avLst/>
          </a:prstGeom>
          <a:solidFill>
            <a:srgbClr val="C89B4D"/>
          </a:solidFill>
          <a:ln w="12700">
            <a:solidFill>
              <a:srgbClr val="C89B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2860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4A"/>
                </a:solidFill>
              </a:rPr>
              <a:t>EQUIPOS Y ROLES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64008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 hace qué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1371600"/>
            <a:ext cx="85039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508760"/>
            <a:ext cx="274320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508760"/>
            <a:ext cx="2743200" cy="5486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53619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</a:rPr>
              <a:t>MARKETING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040" y="18288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Lead: Jorge Ruíz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21208" y="2286000"/>
            <a:ext cx="109728" cy="10972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" y="21945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Brand Book · foundations visuales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21208" y="2944368"/>
            <a:ext cx="109728" cy="10972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" y="2852928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Voz, tono e identidad verbal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21208" y="3602736"/>
            <a:ext cx="109728" cy="10972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" y="3511296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Brand Sprint verificación 2024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21208" y="4261104"/>
            <a:ext cx="109728" cy="10972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" y="4169664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Alineación visual con comunicación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0" y="1508760"/>
            <a:ext cx="274320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0" y="1508760"/>
            <a:ext cx="2743200" cy="5486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0" y="153619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</a:rPr>
              <a:t>PRODUCT DESIGN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200400" y="18288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Lead: Alex Facio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401568" y="2286000"/>
            <a:ext cx="109728" cy="109728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84448" y="21945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Tokens en Figma (primitivos + semánticos)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401568" y="2944368"/>
            <a:ext cx="109728" cy="109728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84448" y="2852928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Componentes y variants en Figma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401568" y="3602736"/>
            <a:ext cx="109728" cy="109728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84448" y="3511296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QA paridad diseño ↔ código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401568" y="4261104"/>
            <a:ext cx="109728" cy="109728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84448" y="4169664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PM del proyecto · coordinación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080760" y="1508760"/>
            <a:ext cx="274320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080760" y="1508760"/>
            <a:ext cx="2743200" cy="5486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80760" y="153619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</a:rPr>
              <a:t>TECNOLOGÍA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080760" y="18288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Lead: David Corona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281928" y="2286000"/>
            <a:ext cx="109728" cy="10972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64808" y="21945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Framework + fuente de verdad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281928" y="2944368"/>
            <a:ext cx="109728" cy="10972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64808" y="2852928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Style Dictionary · pipeline GitHub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281928" y="3602736"/>
            <a:ext cx="109728" cy="10972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64808" y="3511296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Componentes en código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281928" y="4261104"/>
            <a:ext cx="109728" cy="10972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64808" y="4169664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Integración IA + MCP + Claude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C89B4D"/>
          </a:solidFill>
          <a:ln w="12700">
            <a:solidFill>
              <a:srgbClr val="C89B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89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ARRANCAR  ·  JUNIO 2026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0: Preplanning &amp; Kick Off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1389888"/>
            <a:ext cx="8046720" cy="0"/>
          </a:xfrm>
          <a:prstGeom prst="line">
            <a:avLst/>
          </a:prstGeom>
          <a:noFill/>
          <a:ln w="12700">
            <a:solidFill>
              <a:srgbClr val="24365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508760"/>
            <a:ext cx="8321040" cy="603504"/>
          </a:xfrm>
          <a:prstGeom prst="rect">
            <a:avLst/>
          </a:prstGeom>
          <a:solidFill>
            <a:srgbClr val="C89B4D">
              <a:alpha val="12000"/>
            </a:srgbClr>
          </a:solidFill>
          <a:ln w="12700">
            <a:solidFill>
              <a:srgbClr val="C89B4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618488"/>
            <a:ext cx="777240" cy="182880"/>
          </a:xfrm>
          <a:prstGeom prst="rect">
            <a:avLst/>
          </a:prstGeom>
          <a:solidFill>
            <a:srgbClr val="C89B4D"/>
          </a:solidFill>
          <a:ln w="12700">
            <a:solidFill>
              <a:srgbClr val="C89B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61848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B2A4A"/>
                </a:solidFill>
              </a:rPr>
              <a:t>BRAND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664208" y="156362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C978"/>
                </a:solidFill>
              </a:rPr>
              <a:t>Brand Sprint de verificación y actualización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664208" y="1837944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Owner: Jorge Ruíz + Alex Facio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406640" y="1636776"/>
            <a:ext cx="1371600" cy="274320"/>
          </a:xfrm>
          <a:prstGeom prst="rect">
            <a:avLst/>
          </a:prstGeom>
          <a:solidFill>
            <a:srgbClr val="C89B4D"/>
          </a:solidFill>
          <a:ln w="12700">
            <a:solidFill>
              <a:srgbClr val="C89B4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06640" y="163677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A4A"/>
                </a:solidFill>
              </a:rPr>
              <a:t>Jun 30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31520" y="2185416"/>
            <a:ext cx="8321040" cy="603504"/>
          </a:xfrm>
          <a:prstGeom prst="rect">
            <a:avLst/>
          </a:prstGeom>
          <a:solidFill>
            <a:srgbClr val="C89B4D">
              <a:alpha val="12000"/>
            </a:srgbClr>
          </a:solidFill>
          <a:ln w="12700">
            <a:solidFill>
              <a:srgbClr val="C89B4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2295144"/>
            <a:ext cx="777240" cy="182880"/>
          </a:xfrm>
          <a:prstGeom prst="rect">
            <a:avLst/>
          </a:prstGeom>
          <a:solidFill>
            <a:srgbClr val="C89B4D"/>
          </a:solidFill>
          <a:ln w="12700">
            <a:solidFill>
              <a:srgbClr val="C89B4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2295144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B2A4A"/>
                </a:solidFill>
              </a:rPr>
              <a:t>DECISIÓN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1664208" y="22402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C978"/>
                </a:solidFill>
              </a:rPr>
              <a:t>Decidir framework frontend (Tailwind vs Vanilla CSS)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664208" y="251460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Owner: David Corona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406640" y="2313432"/>
            <a:ext cx="1371600" cy="274320"/>
          </a:xfrm>
          <a:prstGeom prst="rect">
            <a:avLst/>
          </a:prstGeom>
          <a:solidFill>
            <a:srgbClr val="C89B4D"/>
          </a:solidFill>
          <a:ln w="12700">
            <a:solidFill>
              <a:srgbClr val="C89B4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06640" y="23134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A4A"/>
                </a:solidFill>
              </a:rPr>
              <a:t>Jun 30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31520" y="2862072"/>
            <a:ext cx="8321040" cy="603504"/>
          </a:xfrm>
          <a:prstGeom prst="rect">
            <a:avLst/>
          </a:prstGeom>
          <a:solidFill>
            <a:srgbClr val="C89B4D">
              <a:alpha val="12000"/>
            </a:srgbClr>
          </a:solidFill>
          <a:ln w="12700">
            <a:solidFill>
              <a:srgbClr val="C89B4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2971800"/>
            <a:ext cx="777240" cy="182880"/>
          </a:xfrm>
          <a:prstGeom prst="rect">
            <a:avLst/>
          </a:prstGeom>
          <a:solidFill>
            <a:srgbClr val="C89B4D"/>
          </a:solidFill>
          <a:ln w="12700">
            <a:solidFill>
              <a:srgbClr val="C89B4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297180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B2A4A"/>
                </a:solidFill>
              </a:rPr>
              <a:t>DECISIÓN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1664208" y="291693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C978"/>
                </a:solidFill>
              </a:rPr>
              <a:t>Decidir herramienta fuente de verdad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664208" y="3191256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Owner: David Corona + Alex Facio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406640" y="2990088"/>
            <a:ext cx="1371600" cy="274320"/>
          </a:xfrm>
          <a:prstGeom prst="rect">
            <a:avLst/>
          </a:prstGeom>
          <a:solidFill>
            <a:srgbClr val="C89B4D"/>
          </a:solidFill>
          <a:ln w="12700">
            <a:solidFill>
              <a:srgbClr val="C89B4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06640" y="29900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A4A"/>
                </a:solidFill>
              </a:rPr>
              <a:t>Jun 30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31520" y="3538728"/>
            <a:ext cx="8321040" cy="603504"/>
          </a:xfrm>
          <a:prstGeom prst="rect">
            <a:avLst/>
          </a:prstGeom>
          <a:solidFill>
            <a:srgbClr val="243659">
              <a:alpha val="38000"/>
            </a:srgbClr>
          </a:solidFill>
          <a:ln w="12700">
            <a:solidFill>
              <a:srgbClr val="24365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77240" y="3648456"/>
            <a:ext cx="777240" cy="18288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3648456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EQUIPO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1664208" y="359359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C978"/>
                </a:solidFill>
              </a:rPr>
              <a:t>Confirmar TBDs: UX Writing + UX Copy (Frontend: Gerardo Luna ✓)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664208" y="386791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Owner: Alex Facio + Jorge Ruíz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7406640" y="3666744"/>
            <a:ext cx="1371600" cy="274320"/>
          </a:xfrm>
          <a:prstGeom prst="rect">
            <a:avLst/>
          </a:prstGeom>
          <a:solidFill>
            <a:srgbClr val="243659"/>
          </a:solidFill>
          <a:ln w="12700">
            <a:solidFill>
              <a:srgbClr val="24365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06640" y="366674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5E7EB"/>
                </a:solidFill>
              </a:rPr>
              <a:t>Jun 30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31520" y="4215384"/>
            <a:ext cx="8321040" cy="603504"/>
          </a:xfrm>
          <a:prstGeom prst="rect">
            <a:avLst/>
          </a:prstGeom>
          <a:solidFill>
            <a:srgbClr val="243659">
              <a:alpha val="38000"/>
            </a:srgbClr>
          </a:solidFill>
          <a:ln w="12700">
            <a:solidFill>
              <a:srgbClr val="24365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77240" y="4325112"/>
            <a:ext cx="777240" cy="18288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77240" y="4325112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PLANNING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1664208" y="427024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C978"/>
                </a:solidFill>
              </a:rPr>
              <a:t>Sprint Planning Sprint 1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664208" y="454456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Owner: Alex Facio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7406640" y="4343400"/>
            <a:ext cx="1371600" cy="274320"/>
          </a:xfrm>
          <a:prstGeom prst="rect">
            <a:avLst/>
          </a:prstGeom>
          <a:solidFill>
            <a:srgbClr val="243659"/>
          </a:solidFill>
          <a:ln w="12700">
            <a:solidFill>
              <a:srgbClr val="24365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406640" y="43434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5E7EB"/>
                </a:solidFill>
              </a:rPr>
              <a:t>Jun 30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9B4D"/>
          </a:solidFill>
          <a:ln w="12700">
            <a:solidFill>
              <a:srgbClr val="C89B4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28600"/>
            <a:ext cx="2194560" cy="292608"/>
          </a:xfrm>
          <a:prstGeom prst="rect">
            <a:avLst/>
          </a:prstGeom>
          <a:solidFill>
            <a:srgbClr val="C89B4D"/>
          </a:solidFill>
          <a:ln w="12700">
            <a:solidFill>
              <a:srgbClr val="C89B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2860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4A"/>
                </a:solidFill>
              </a:rPr>
              <a:t>TIMELINE Q3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64008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1–9  ·  Julio – Septiembre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1371600"/>
            <a:ext cx="85039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508760"/>
            <a:ext cx="868680" cy="3108960"/>
          </a:xfrm>
          <a:prstGeom prst="rect">
            <a:avLst/>
          </a:prstGeom>
          <a:solidFill>
            <a:srgbClr val="1B5E7A"/>
          </a:solidFill>
          <a:ln w="12700">
            <a:solidFill>
              <a:srgbClr val="1B5E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" y="160020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47472" y="1947672"/>
            <a:ext cx="813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5E7EB"/>
                </a:solidFill>
              </a:rPr>
              <a:t>Jul 1–10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11480" y="2240280"/>
            <a:ext cx="685800" cy="0"/>
          </a:xfrm>
          <a:prstGeom prst="line">
            <a:avLst/>
          </a:prstGeom>
          <a:noFill/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" y="2331720"/>
            <a:ext cx="79552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Foundations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Figma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Style Dict.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257300" y="1508760"/>
            <a:ext cx="868680" cy="3108960"/>
          </a:xfrm>
          <a:prstGeom prst="rect">
            <a:avLst/>
          </a:prstGeom>
          <a:solidFill>
            <a:srgbClr val="1B5E7A"/>
          </a:solidFill>
          <a:ln w="12700">
            <a:solidFill>
              <a:srgbClr val="1B5E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257300" y="160020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84732" y="1947672"/>
            <a:ext cx="813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5E7EB"/>
                </a:solidFill>
              </a:rPr>
              <a:t>Jul 11–20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1348740" y="2240280"/>
            <a:ext cx="685800" cy="0"/>
          </a:xfrm>
          <a:prstGeom prst="line">
            <a:avLst/>
          </a:prstGeom>
          <a:noFill/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93876" y="2331720"/>
            <a:ext cx="79552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Pipeline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Figma→GitHub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Primer PR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194560" y="1508760"/>
            <a:ext cx="868680" cy="3108960"/>
          </a:xfrm>
          <a:prstGeom prst="rect">
            <a:avLst/>
          </a:prstGeom>
          <a:solidFill>
            <a:srgbClr val="1B5E7A"/>
          </a:solidFill>
          <a:ln w="12700">
            <a:solidFill>
              <a:srgbClr val="1B5E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194560" y="160020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221992" y="1947672"/>
            <a:ext cx="813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5E7EB"/>
                </a:solidFill>
              </a:rPr>
              <a:t>Jul 21–31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2286000" y="2240280"/>
            <a:ext cx="685800" cy="0"/>
          </a:xfrm>
          <a:prstGeom prst="line">
            <a:avLst/>
          </a:prstGeom>
          <a:noFill/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31136" y="2331720"/>
            <a:ext cx="79552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Setup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Fuente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de Verdad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131820" y="1508760"/>
            <a:ext cx="868680" cy="3108960"/>
          </a:xfrm>
          <a:prstGeom prst="rect">
            <a:avLst/>
          </a:prstGeom>
          <a:solidFill>
            <a:srgbClr val="1A6B4A"/>
          </a:solidFill>
          <a:ln w="12700">
            <a:solidFill>
              <a:srgbClr val="1A6B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131820" y="160020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159252" y="1947672"/>
            <a:ext cx="813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5E7EB"/>
                </a:solidFill>
              </a:rPr>
              <a:t>Ago 1–10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3223260" y="2240280"/>
            <a:ext cx="685800" cy="0"/>
          </a:xfrm>
          <a:prstGeom prst="line">
            <a:avLst/>
          </a:prstGeom>
          <a:noFill/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68396" y="2331720"/>
            <a:ext cx="79552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Componentes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base en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código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069080" y="1508760"/>
            <a:ext cx="868680" cy="3108960"/>
          </a:xfrm>
          <a:prstGeom prst="rect">
            <a:avLst/>
          </a:prstGeom>
          <a:solidFill>
            <a:srgbClr val="1A6B4A"/>
          </a:solidFill>
          <a:ln w="12700">
            <a:solidFill>
              <a:srgbClr val="1A6B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069080" y="160020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096512" y="1947672"/>
            <a:ext cx="813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5E7EB"/>
                </a:solidFill>
              </a:rPr>
              <a:t>Ago 11–20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4160520" y="2240280"/>
            <a:ext cx="685800" cy="0"/>
          </a:xfrm>
          <a:prstGeom prst="line">
            <a:avLst/>
          </a:prstGeom>
          <a:noFill/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05656" y="2331720"/>
            <a:ext cx="79552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Componentes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core +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docs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006340" y="1508760"/>
            <a:ext cx="868680" cy="3108960"/>
          </a:xfrm>
          <a:prstGeom prst="rect">
            <a:avLst/>
          </a:prstGeom>
          <a:solidFill>
            <a:srgbClr val="1A6B4A"/>
          </a:solidFill>
          <a:ln w="12700">
            <a:solidFill>
              <a:srgbClr val="1A6B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006340" y="160020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S6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033772" y="1947672"/>
            <a:ext cx="813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5E7EB"/>
                </a:solidFill>
              </a:rPr>
              <a:t>Ago 21–31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5097780" y="2240280"/>
            <a:ext cx="685800" cy="0"/>
          </a:xfrm>
          <a:prstGeom prst="line">
            <a:avLst/>
          </a:prstGeom>
          <a:noFill/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42916" y="2331720"/>
            <a:ext cx="79552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MCP +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Claude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Voz/Tono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943600" y="1508760"/>
            <a:ext cx="868680" cy="3108960"/>
          </a:xfrm>
          <a:prstGeom prst="rect">
            <a:avLst/>
          </a:prstGeom>
          <a:solidFill>
            <a:srgbClr val="4A2080"/>
          </a:solidFill>
          <a:ln w="12700">
            <a:solidFill>
              <a:srgbClr val="4A20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5943600" y="160020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S7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971032" y="1947672"/>
            <a:ext cx="813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5E7EB"/>
                </a:solidFill>
              </a:rPr>
              <a:t>Sep 1–10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6035040" y="2240280"/>
            <a:ext cx="685800" cy="0"/>
          </a:xfrm>
          <a:prstGeom prst="line">
            <a:avLst/>
          </a:prstGeom>
          <a:noFill/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980176" y="2331720"/>
            <a:ext cx="79552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QA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paridad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diseño↔cód.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880860" y="1508760"/>
            <a:ext cx="868680" cy="3108960"/>
          </a:xfrm>
          <a:prstGeom prst="rect">
            <a:avLst/>
          </a:prstGeom>
          <a:solidFill>
            <a:srgbClr val="4A2080"/>
          </a:solidFill>
          <a:ln w="12700">
            <a:solidFill>
              <a:srgbClr val="4A20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6880860" y="160020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S8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6908292" y="1947672"/>
            <a:ext cx="813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5E7EB"/>
                </a:solidFill>
              </a:rPr>
              <a:t>Sep 11–20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6972300" y="2240280"/>
            <a:ext cx="685800" cy="0"/>
          </a:xfrm>
          <a:prstGeom prst="line">
            <a:avLst/>
          </a:prstGeom>
          <a:noFill/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917436" y="2331720"/>
            <a:ext cx="79552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QA final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Entrega-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bles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7818120" y="1508760"/>
            <a:ext cx="868680" cy="3108960"/>
          </a:xfrm>
          <a:prstGeom prst="rect">
            <a:avLst/>
          </a:prstGeom>
          <a:solidFill>
            <a:srgbClr val="4A2080"/>
          </a:solidFill>
          <a:ln w="12700">
            <a:solidFill>
              <a:srgbClr val="4A20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7818120" y="160020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S9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7845552" y="1947672"/>
            <a:ext cx="813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5E7EB"/>
                </a:solidFill>
              </a:rPr>
              <a:t>Sep 21–30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7909560" y="2240280"/>
            <a:ext cx="685800" cy="0"/>
          </a:xfrm>
          <a:prstGeom prst="line">
            <a:avLst/>
          </a:prstGeom>
          <a:noFill/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854696" y="2331720"/>
            <a:ext cx="79552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Retro +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Handoff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Fase 2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320040" y="4754880"/>
            <a:ext cx="201168" cy="146304"/>
          </a:xfrm>
          <a:prstGeom prst="rect">
            <a:avLst/>
          </a:prstGeom>
          <a:solidFill>
            <a:srgbClr val="1B5E7A"/>
          </a:solidFill>
          <a:ln w="12700">
            <a:solidFill>
              <a:srgbClr val="1B5E7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94360" y="473659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Julio (Foundations + Pipeline)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154680" y="4754880"/>
            <a:ext cx="201168" cy="146304"/>
          </a:xfrm>
          <a:prstGeom prst="rect">
            <a:avLst/>
          </a:prstGeom>
          <a:solidFill>
            <a:srgbClr val="1A6B4A"/>
          </a:solidFill>
          <a:ln w="12700">
            <a:solidFill>
              <a:srgbClr val="1A6B4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429000" y="473659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Agosto (Componentes + IA)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5989320" y="4754880"/>
            <a:ext cx="201168" cy="146304"/>
          </a:xfrm>
          <a:prstGeom prst="rect">
            <a:avLst/>
          </a:prstGeom>
          <a:solidFill>
            <a:srgbClr val="4A2080"/>
          </a:solidFill>
          <a:ln w="12700">
            <a:solidFill>
              <a:srgbClr val="4A208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263640" y="473659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Septiembre (QA + Cierre)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28600"/>
            <a:ext cx="2194560" cy="292608"/>
          </a:xfrm>
          <a:prstGeom prst="rect">
            <a:avLst/>
          </a:prstGeom>
          <a:solidFill>
            <a:srgbClr val="C89B4D"/>
          </a:solidFill>
          <a:ln w="12700">
            <a:solidFill>
              <a:srgbClr val="C89B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2860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4A"/>
                </a:solidFill>
              </a:rPr>
              <a:t>METODOLOGÍA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64008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vamos a trabajar  ·  Scrumban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1371600"/>
            <a:ext cx="85039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508760"/>
            <a:ext cx="1572768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508760"/>
            <a:ext cx="1572768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50876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Lunes S1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1947672"/>
            <a:ext cx="13898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</a:rPr>
              <a:t>Planning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2679192"/>
            <a:ext cx="1207008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770632"/>
            <a:ext cx="138988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Selección de backlog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y asignación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de owners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002536" y="1508760"/>
            <a:ext cx="1572768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002536" y="1508760"/>
            <a:ext cx="1572768" cy="347472"/>
          </a:xfrm>
          <a:prstGeom prst="rect">
            <a:avLst/>
          </a:prstGeom>
          <a:solidFill>
            <a:srgbClr val="243659"/>
          </a:solidFill>
          <a:ln w="12700">
            <a:solidFill>
              <a:srgbClr val="24365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02536" y="150876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Mar–Vie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093976" y="1947672"/>
            <a:ext cx="13898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3659"/>
                </a:solidFill>
              </a:rPr>
              <a:t>Dailys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185416" y="2679192"/>
            <a:ext cx="1207008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93976" y="2770632"/>
            <a:ext cx="138988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Async via Notion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Actualización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de status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85032" y="1508760"/>
            <a:ext cx="1572768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85032" y="1508760"/>
            <a:ext cx="1572768" cy="347472"/>
          </a:xfrm>
          <a:prstGeom prst="rect">
            <a:avLst/>
          </a:prstGeom>
          <a:solidFill>
            <a:srgbClr val="2D5A8E"/>
          </a:solidFill>
          <a:ln w="12700">
            <a:solidFill>
              <a:srgbClr val="2D5A8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85032" y="150876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Diario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776472" y="1947672"/>
            <a:ext cx="13898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5A8E"/>
                </a:solidFill>
              </a:rPr>
              <a:t>Backlog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D5A8E"/>
                </a:solidFill>
              </a:rPr>
              <a:t>Refinement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867912" y="2679192"/>
            <a:ext cx="1207008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76472" y="2770632"/>
            <a:ext cx="138988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WIP límite: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3 tareas/área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Flujo continuo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367528" y="1508760"/>
            <a:ext cx="1572768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367528" y="1508760"/>
            <a:ext cx="1572768" cy="3474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67528" y="150876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Lunes S2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458968" y="1947672"/>
            <a:ext cx="13898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</a:rPr>
              <a:t>Entregables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</a:rPr>
              <a:t>Status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550408" y="2679192"/>
            <a:ext cx="1207008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58968" y="2770632"/>
            <a:ext cx="138988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Review con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equipo core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(30 min)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050024" y="1508760"/>
            <a:ext cx="1572768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050024" y="1508760"/>
            <a:ext cx="1572768" cy="347472"/>
          </a:xfrm>
          <a:prstGeom prst="rect">
            <a:avLst/>
          </a:prstGeom>
          <a:solidFill>
            <a:srgbClr val="C89B4D"/>
          </a:solidFill>
          <a:ln w="12700">
            <a:solidFill>
              <a:srgbClr val="C89B4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050024" y="150876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Miérc S2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141464" y="1947672"/>
            <a:ext cx="13898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9B4D"/>
                </a:solidFill>
              </a:rPr>
              <a:t>Retrospectiva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7232904" y="2679192"/>
            <a:ext cx="1207008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41464" y="2770632"/>
            <a:ext cx="138988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Cada 2 sprints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Documentada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en Notion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20040" y="4828032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</a:rPr>
              <a:t>Sprint de 10 días hábiles  ·  No hay standups diarios obligatorios  ·  Todo fluye vía Notion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BLOQUEANTES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49808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estas dos decisiones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arranca el Sprint 1.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31520" y="2057400"/>
            <a:ext cx="8321040" cy="1188720"/>
          </a:xfrm>
          <a:prstGeom prst="rect">
            <a:avLst/>
          </a:prstGeom>
          <a:solidFill>
            <a:srgbClr val="243659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377440"/>
            <a:ext cx="457200" cy="45720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81328" y="21488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706"/>
                </a:solidFill>
              </a:rPr>
              <a:t>Framework frontend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81328" y="2478024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8C978"/>
                </a:solidFill>
              </a:rPr>
              <a:t>Tailwind CSS  vs  Vanilla CSS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481328" y="272491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</a:rPr>
              <a:t>Desbloquea configuración de Style Dictionary y cómo se consumen los tokens en componentes.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748272" y="2221992"/>
            <a:ext cx="2057400" cy="822960"/>
          </a:xfrm>
          <a:prstGeom prst="rect">
            <a:avLst/>
          </a:prstGeom>
          <a:solidFill>
            <a:srgbClr val="11182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48272" y="224028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</a:rPr>
              <a:t>OWNER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6784848" y="2423160"/>
            <a:ext cx="1984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David Corona + TBD Frontend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748272" y="269748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9B4D"/>
                </a:solidFill>
              </a:rPr>
              <a:t>Jun 30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3474720"/>
            <a:ext cx="8321040" cy="1188720"/>
          </a:xfrm>
          <a:prstGeom prst="rect">
            <a:avLst/>
          </a:prstGeom>
          <a:solidFill>
            <a:srgbClr val="243659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8680" y="3794760"/>
            <a:ext cx="457200" cy="45720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81328" y="35661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706"/>
                </a:solidFill>
              </a:rPr>
              <a:t>Herramienta fuente de verdad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481328" y="3895344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8C978"/>
                </a:solidFill>
              </a:rPr>
              <a:t>Zeroheight  vs  Supernova  vs  Storybook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481328" y="414223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</a:rPr>
              <a:t>Define dónde vivirá la documentación centralizada. Impacta Sprint 3 en adelante.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748272" y="3639312"/>
            <a:ext cx="2057400" cy="822960"/>
          </a:xfrm>
          <a:prstGeom prst="rect">
            <a:avLst/>
          </a:prstGeom>
          <a:solidFill>
            <a:srgbClr val="11182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48272" y="365760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</a:rPr>
              <a:t>OWNER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6784848" y="3840480"/>
            <a:ext cx="1984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David Corona + Alex Facio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748272" y="411480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9B4D"/>
                </a:solidFill>
              </a:rPr>
              <a:t>Jun 30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28600"/>
            <a:ext cx="2194560" cy="292608"/>
          </a:xfrm>
          <a:prstGeom prst="rect">
            <a:avLst/>
          </a:prstGeom>
          <a:solidFill>
            <a:srgbClr val="C89B4D"/>
          </a:solidFill>
          <a:ln w="12700">
            <a:solidFill>
              <a:srgbClr val="C89B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2860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4A"/>
                </a:solidFill>
              </a:rPr>
              <a:t>ROLES PENDIENTES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64008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roles por confirmar  ·  Frontend: Gerardo Luna confirmado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1371600"/>
            <a:ext cx="85039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508760"/>
            <a:ext cx="8503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508760"/>
            <a:ext cx="201168" cy="8686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6002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Frontend Developer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58368" y="191109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Tecnología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611880" y="1655064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Tokens → código · Style Dictionary · Componentes · QA paridad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126480" y="16002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Quien decide: Gerardo Luna  ✓  Confirmado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126480" y="1911096"/>
            <a:ext cx="2560320" cy="228600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44768" y="1911096"/>
            <a:ext cx="2523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</a:rPr>
              <a:t>Bloquea: —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0040" y="2514600"/>
            <a:ext cx="8503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514600"/>
            <a:ext cx="201168" cy="8686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26060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UX Writing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8368" y="291693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Cross-equipo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611880" y="2660904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Contenido y microcopy del sistema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126480" y="26060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Quien decide: Alex Facio + Jorge Ruíz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126480" y="2916936"/>
            <a:ext cx="2560320" cy="228600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44768" y="2916936"/>
            <a:ext cx="2523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</a:rPr>
              <a:t>Bloquea: Sprint 3 docs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0040" y="3520440"/>
            <a:ext cx="8503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3520440"/>
            <a:ext cx="201168" cy="8686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" y="36118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UX Copywriting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8368" y="392277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Cross-equipo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611880" y="3666744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Identidad verbal · Voz y tono aplicados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126480" y="36118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Quien decide: Alex Facio + Jorge Ruíz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126480" y="3922776"/>
            <a:ext cx="2560320" cy="228600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44768" y="3922776"/>
            <a:ext cx="2523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</a:rPr>
              <a:t>Bloquea: Sprint 3 docs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9B4D"/>
          </a:solidFill>
          <a:ln w="12700">
            <a:solidFill>
              <a:srgbClr val="C89B4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28600"/>
            <a:ext cx="2194560" cy="292608"/>
          </a:xfrm>
          <a:prstGeom prst="rect">
            <a:avLst/>
          </a:prstGeom>
          <a:solidFill>
            <a:srgbClr val="C89B4D"/>
          </a:solidFill>
          <a:ln w="12700">
            <a:solidFill>
              <a:srgbClr val="C89B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2860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4A"/>
                </a:solidFill>
              </a:rPr>
              <a:t>MÉTRICAS DE ÉXITO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64008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sabremos que lo logramos?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1371600"/>
            <a:ext cx="85039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508760"/>
            <a:ext cx="19659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508760"/>
            <a:ext cx="1965960" cy="2011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92024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B2A4A"/>
                </a:solidFill>
              </a:rPr>
              <a:t>80%+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11480" y="283464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Tokens mapeados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" y="3291840"/>
            <a:ext cx="14173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3401568"/>
            <a:ext cx="1783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Tokens primitivos y semánticos de Figma correctamente traducidos a código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423160" y="1508760"/>
            <a:ext cx="19659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23160" y="1508760"/>
            <a:ext cx="1965960" cy="2011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23160" y="192024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59669"/>
                </a:solidFill>
              </a:rPr>
              <a:t>0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2514600" y="283464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Discrepancias críticas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697480" y="3291840"/>
            <a:ext cx="14173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3401568"/>
            <a:ext cx="1783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Paridad diseño ↔ código en todos los componentes revisados en QA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26280" y="1508760"/>
            <a:ext cx="19659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26280" y="1508760"/>
            <a:ext cx="1965960" cy="2011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26280" y="192024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B2A4A"/>
                </a:solidFill>
              </a:rPr>
              <a:t>1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4617720" y="283464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Fuente de verdad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800600" y="3291840"/>
            <a:ext cx="14173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17720" y="3401568"/>
            <a:ext cx="1783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Documentación centralizada, operativa y usada por los 3 equipos al cierre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629400" y="1508760"/>
            <a:ext cx="19659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629400" y="1508760"/>
            <a:ext cx="1965960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29400" y="192024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97706"/>
                </a:solidFill>
              </a:rPr>
              <a:t>100%</a:t>
            </a:r>
            <a:endParaRPr lang="en-US" sz="4000" dirty="0"/>
          </a:p>
        </p:txBody>
      </p:sp>
      <p:sp>
        <p:nvSpPr>
          <p:cNvPr id="28" name="Text 26"/>
          <p:cNvSpPr/>
          <p:nvPr/>
        </p:nvSpPr>
        <p:spPr>
          <a:xfrm>
            <a:off x="6720840" y="283464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Pipeline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903720" y="3291840"/>
            <a:ext cx="14173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20840" y="3401568"/>
            <a:ext cx="1783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Figma → Style Dictionary → GitHub funcionando con un solo comando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C89B4D"/>
          </a:solidFill>
          <a:ln w="12700">
            <a:solidFill>
              <a:srgbClr val="C89B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4747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89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 PASO PARA CADA EQUIPO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semana: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1298448"/>
            <a:ext cx="2651760" cy="3154680"/>
          </a:xfrm>
          <a:prstGeom prst="rect">
            <a:avLst/>
          </a:prstGeom>
          <a:solidFill>
            <a:srgbClr val="243659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298448"/>
            <a:ext cx="2651760" cy="4572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29844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1B2A4A"/>
                </a:solidFill>
              </a:rPr>
              <a:t>MARKETING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96112" y="1828800"/>
            <a:ext cx="2322576" cy="749808"/>
          </a:xfrm>
          <a:prstGeom prst="rect">
            <a:avLst/>
          </a:prstGeom>
          <a:solidFill>
            <a:srgbClr val="1B2A4A"/>
          </a:solidFill>
          <a:ln w="635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" y="2029968"/>
            <a:ext cx="274320" cy="27432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0299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325880" y="1883664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Arrancar Brand Sprint de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verificación 2024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96112" y="2706624"/>
            <a:ext cx="2322576" cy="749808"/>
          </a:xfrm>
          <a:prstGeom prst="rect">
            <a:avLst/>
          </a:prstGeom>
          <a:solidFill>
            <a:srgbClr val="1B2A4A"/>
          </a:solidFill>
          <a:ln w="635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60120" y="2907792"/>
            <a:ext cx="274320" cy="27432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29077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325880" y="2761488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Confirmar: UX Writing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+ UX Copywriting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96112" y="3584448"/>
            <a:ext cx="2322576" cy="749808"/>
          </a:xfrm>
          <a:prstGeom prst="rect">
            <a:avLst/>
          </a:prstGeom>
          <a:solidFill>
            <a:srgbClr val="1B2A4A"/>
          </a:solidFill>
          <a:ln w="635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0120" y="3785616"/>
            <a:ext cx="274320" cy="27432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37856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325880" y="3639312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Responder encuesta de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diagnóstico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547872" y="1298448"/>
            <a:ext cx="2651760" cy="3154680"/>
          </a:xfrm>
          <a:prstGeom prst="rect">
            <a:avLst/>
          </a:prstGeom>
          <a:solidFill>
            <a:srgbClr val="243659"/>
          </a:solidFill>
          <a:ln w="12700">
            <a:solidFill>
              <a:srgbClr val="C89B4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47872" y="1298448"/>
            <a:ext cx="2651760" cy="457200"/>
          </a:xfrm>
          <a:prstGeom prst="rect">
            <a:avLst/>
          </a:prstGeom>
          <a:solidFill>
            <a:srgbClr val="C89B4D"/>
          </a:solidFill>
          <a:ln w="12700">
            <a:solidFill>
              <a:srgbClr val="C89B4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47872" y="129844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1B2A4A"/>
                </a:solidFill>
              </a:rPr>
              <a:t>PRODUCT DESIGN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712464" y="1828800"/>
            <a:ext cx="2322576" cy="749808"/>
          </a:xfrm>
          <a:prstGeom prst="rect">
            <a:avLst/>
          </a:prstGeom>
          <a:solidFill>
            <a:srgbClr val="1B2A4A"/>
          </a:solidFill>
          <a:ln w="635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776472" y="2029968"/>
            <a:ext cx="274320" cy="274320"/>
          </a:xfrm>
          <a:prstGeom prst="ellipse">
            <a:avLst/>
          </a:prstGeom>
          <a:solidFill>
            <a:srgbClr val="C89B4D"/>
          </a:solidFill>
          <a:ln w="12700">
            <a:solidFill>
              <a:srgbClr val="C89B4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76472" y="20299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1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142232" y="1883664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Auditoría de tokens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En Figma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712464" y="2706624"/>
            <a:ext cx="2322576" cy="749808"/>
          </a:xfrm>
          <a:prstGeom prst="rect">
            <a:avLst/>
          </a:prstGeom>
          <a:solidFill>
            <a:srgbClr val="1B2A4A"/>
          </a:solidFill>
          <a:ln w="635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776472" y="2907792"/>
            <a:ext cx="274320" cy="274320"/>
          </a:xfrm>
          <a:prstGeom prst="ellipse">
            <a:avLst/>
          </a:prstGeom>
          <a:solidFill>
            <a:srgbClr val="C89B4D"/>
          </a:solidFill>
          <a:ln w="12700">
            <a:solidFill>
              <a:srgbClr val="C89B4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76472" y="29077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2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142232" y="2761488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Definir taxonomía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de tokens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712464" y="3584448"/>
            <a:ext cx="2322576" cy="749808"/>
          </a:xfrm>
          <a:prstGeom prst="rect">
            <a:avLst/>
          </a:prstGeom>
          <a:solidFill>
            <a:srgbClr val="1B2A4A"/>
          </a:solidFill>
          <a:ln w="635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76472" y="3785616"/>
            <a:ext cx="274320" cy="274320"/>
          </a:xfrm>
          <a:prstGeom prst="ellipse">
            <a:avLst/>
          </a:prstGeom>
          <a:solidFill>
            <a:srgbClr val="C89B4D"/>
          </a:solidFill>
          <a:ln w="12700">
            <a:solidFill>
              <a:srgbClr val="C89B4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776472" y="37856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3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142232" y="3639312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Setup repo GitHub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para tokens globales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364224" y="1298448"/>
            <a:ext cx="2651760" cy="3154680"/>
          </a:xfrm>
          <a:prstGeom prst="rect">
            <a:avLst/>
          </a:prstGeom>
          <a:solidFill>
            <a:srgbClr val="24365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64224" y="1298448"/>
            <a:ext cx="2651760" cy="4572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64224" y="129844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1B2A4A"/>
                </a:solidFill>
              </a:rPr>
              <a:t>TECNOLOGÍA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528816" y="1828800"/>
            <a:ext cx="2322576" cy="749808"/>
          </a:xfrm>
          <a:prstGeom prst="rect">
            <a:avLst/>
          </a:prstGeom>
          <a:solidFill>
            <a:srgbClr val="1B2A4A"/>
          </a:solidFill>
          <a:ln w="635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592824" y="2029968"/>
            <a:ext cx="274320" cy="27432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92824" y="20299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1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958584" y="1883664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Decidir framework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frontend (deadline Jun 30)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528816" y="2706624"/>
            <a:ext cx="2322576" cy="749808"/>
          </a:xfrm>
          <a:prstGeom prst="rect">
            <a:avLst/>
          </a:prstGeom>
          <a:solidFill>
            <a:srgbClr val="1B2A4A"/>
          </a:solidFill>
          <a:ln w="635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592824" y="2907792"/>
            <a:ext cx="274320" cy="27432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92824" y="29077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2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958584" y="2761488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Decidir herramienta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fuente de verdad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528816" y="3584448"/>
            <a:ext cx="2322576" cy="749808"/>
          </a:xfrm>
          <a:prstGeom prst="rect">
            <a:avLst/>
          </a:prstGeom>
          <a:solidFill>
            <a:srgbClr val="1B2A4A"/>
          </a:solidFill>
          <a:ln w="635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592824" y="3785616"/>
            <a:ext cx="274320" cy="27432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592824" y="37856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3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958584" y="3639312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Confirmar: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UX Writing + UX Copy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731520" y="4498848"/>
            <a:ext cx="8046720" cy="164592"/>
          </a:xfrm>
          <a:prstGeom prst="rect">
            <a:avLst/>
          </a:prstGeom>
          <a:solidFill>
            <a:srgbClr val="243659"/>
          </a:solidFill>
          <a:ln w="12700">
            <a:solidFill>
              <a:srgbClr val="24365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49808" y="4498848"/>
            <a:ext cx="80101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</a:rPr>
              <a:t>Backlog en Notion → app.notion.com/p/379009e25df981d183a5ea6141001cb8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Later: Brand System — Kickoff Fase 2</dc:title>
  <dc:subject>PptxGenJS Presentation</dc:subject>
  <dc:creator>Alex Facio</dc:creator>
  <cp:lastModifiedBy>Alex Facio</cp:lastModifiedBy>
  <cp:revision>1</cp:revision>
  <dcterms:created xsi:type="dcterms:W3CDTF">2026-06-11T16:54:08Z</dcterms:created>
  <dcterms:modified xsi:type="dcterms:W3CDTF">2026-06-11T16:54:08Z</dcterms:modified>
</cp:coreProperties>
</file>