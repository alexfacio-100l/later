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0"/>
            <a:ext cx="347472" cy="5143500"/>
          </a:xfrm>
          <a:prstGeom prst="rect">
            <a:avLst/>
          </a:prstGeom>
          <a:solidFill>
            <a:srgbClr val="243659">
              <a:alpha val="45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LADRILLOS  ·  RENOVARE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System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— Fase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CONTEXTO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venimos?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4023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89B4D"/>
                </a:solidFill>
              </a:rPr>
              <a:t>RENOVARE FASE 1  ·  Brand Sprint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2157984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848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Brand 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340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Identidad visual unificada — logo, color, tipografía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807208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34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Design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9900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Componentes en Figma con tokens primitivos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456432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832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Guidelines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639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Voz, tono y principios de marca documentados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4105656"/>
            <a:ext cx="109728" cy="109728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0325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Foundations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2885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Espaciado, iconografía, sombras y radios definidos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150876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EL PROBLEMA  ·  HOY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215798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084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Figma ≠ Código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Lo que está en diseño no existe en implementación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280720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73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Sin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92624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 hay proceso para exportar tokens a código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4564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Sin fuente de verdad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92624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Cada equipo busca en su propio lugar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410565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Deuda técnica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92624" y="4288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Cada corrección posterior cuesta más que prevenirla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VOZ DE LOS EQUIPOS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está fallando? · Feedback de los equipos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85039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850392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075688"/>
            <a:ext cx="10058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194560"/>
            <a:ext cx="777240" cy="38404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04104" y="2322576"/>
            <a:ext cx="5943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8163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Resultados de la encuesta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Los insights de los equipos irán aquí una vez procesadas las respuestas.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3712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4D"/>
                </a:solidFill>
              </a:rPr>
              <a:t>Marketing  ·  Product Design  ·  Tecnología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4005072"/>
            <a:ext cx="3657600" cy="3474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005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Pendiente  —  Resultados disponibles antes del Kickoff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PROYECTO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el Brand System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Figma a código.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286000" cy="0"/>
          </a:xfrm>
          <a:prstGeom prst="line">
            <a:avLst/>
          </a:prstGeom>
          <a:noFill/>
          <a:ln w="25400">
            <a:solidFill>
              <a:srgbClr val="C89B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529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Alinear Marketing, Product Design y Tecnología en un mismo sistema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3101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Crear un pipeline automatizado: Figma → tokens → código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673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Establecer una fuente de verdad centralizada para los 3 equipos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224528"/>
            <a:ext cx="36576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Reducir fricción, inconsistencias y deuda técnica en producción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ALCANCE FASE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 este proyecto?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40690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EN ALCANCE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5798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4825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Design tokens en Figma (primitivos + semánticos)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2374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Pipeline Figma → Style Dictionary → 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99923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Fuente de verdad centralizada (herramienta TBD)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7472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Componentes core en código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5993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95020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Automatización IA + MCP Claude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42569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QA paridad diseño ↔ código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50876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087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FUERA DE ALCANCE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204825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048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Rediseño del Brand Book o identidad de marca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252374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Desarrollo de nuevos componentes de producto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29992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Distribución a WebApp (Fase 3 posterior)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347472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Integración con canales de marketing externos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395020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950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Diseño de nuevas pantallas o flujos de usuario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pipeline: Figma → Supernova → código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141732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Figma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Variables ·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Foundations · Modes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01368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1508760"/>
            <a:ext cx="1417320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84832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0552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Supernova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7712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Fuente de verdad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transforma tokens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3904" y="1508760"/>
            <a:ext cx="1417320" cy="1600200"/>
          </a:xfrm>
          <a:prstGeom prst="rect">
            <a:avLst/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03904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9624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86784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Auto-PR automático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CI/CD · Versionado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39512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6672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22976" y="1508760"/>
            <a:ext cx="1417320" cy="1600200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22976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68696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05856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CSS vars · 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Componentes React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58584" y="2272284"/>
            <a:ext cx="228600" cy="7315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5744" y="2199132"/>
            <a:ext cx="128016" cy="219456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1508760"/>
            <a:ext cx="1417320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42048" y="1600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8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87768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24928" y="2423160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51460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Swift · Kotlin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Dart · iOS · Android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32918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Storybook ↔ Supernova bidireccional  ·  Supernova Relay MCP → Claude Code / Cursor / Copilot consumen el DS directamente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703320"/>
            <a:ext cx="85039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703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Meta: designer actualiza token en Figma → Supernova transforma y abre PR automático → CSS · Swift · Kotlin · Dart disponibles en código. Sin pipeline adicional.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EQUIPOS Y ROLES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7432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MARKETING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Lead: Jorge Ruíz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" y="22860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Brand Book · foundations visuales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294436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852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Voz, tono e identidad verbal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60273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5112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Brand Sprint verificación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426110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Alineación visual con comunicación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50876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PRODUCT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Lead: Alex Facio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1568" y="2286000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Tokens en Figma (primitivos + semánticos)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2944368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852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Componentes y variants en Figma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01568" y="3602736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5112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QA paridad diseño ↔ código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01568" y="4261104"/>
            <a:ext cx="109728" cy="1097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PM del proyecto · coordinación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508760"/>
            <a:ext cx="2743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536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TECNOLOGÍA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076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Lead: David Corona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81928" y="228600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2194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Framework + fuente de verdad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29443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4808" y="2852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Style Dictionary · pipeline GitHub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81928" y="360273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35112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Componentes en código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81928" y="426110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Integración IA + MCP + Claude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  ·  JUNIO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0: Preplanning &amp; Kick 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389888"/>
            <a:ext cx="8046720" cy="0"/>
          </a:xfrm>
          <a:prstGeom prst="line">
            <a:avLst/>
          </a:prstGeom>
          <a:noFill/>
          <a:ln w="12700">
            <a:solidFill>
              <a:srgbClr val="2436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8321040" cy="603504"/>
          </a:xfrm>
          <a:prstGeom prst="rect">
            <a:avLst/>
          </a:prstGeom>
          <a:solidFill>
            <a:srgbClr val="C89B4D">
              <a:alpha val="12000"/>
            </a:srgbClr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18488"/>
            <a:ext cx="777240" cy="18288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184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</a:rPr>
              <a:t>BRAND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64208" y="1563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Brand Sprint de verificación y actualización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18379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Marketing + Product Design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636776"/>
            <a:ext cx="1371600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636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Jun 30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185416"/>
            <a:ext cx="8321040" cy="603504"/>
          </a:xfrm>
          <a:prstGeom prst="rect">
            <a:avLst/>
          </a:prstGeom>
          <a:solidFill>
            <a:srgbClr val="C89B4D">
              <a:alpha val="12000"/>
            </a:srgbClr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95144"/>
            <a:ext cx="777240" cy="18288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2951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</a:rPr>
              <a:t>DECISIÓN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64208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Decidir framework frontend (Tailwind vs Vanilla CSS)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514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Tecnología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06640" y="2313432"/>
            <a:ext cx="1371600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313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Jun 30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862072"/>
            <a:ext cx="8321040" cy="603504"/>
          </a:xfrm>
          <a:prstGeom prst="rect">
            <a:avLst/>
          </a:prstGeom>
          <a:solidFill>
            <a:srgbClr val="C89B4D">
              <a:alpha val="12000"/>
            </a:srgbClr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971800"/>
            <a:ext cx="777240" cy="18288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718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</a:rPr>
              <a:t>RESUELTO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64208" y="2916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Herramienta fuente de verdad → Supernova 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1912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Tecnología + Product Design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2990088"/>
            <a:ext cx="1371600" cy="27432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990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</a:rPr>
              <a:t>Jun 17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3538728"/>
            <a:ext cx="8321040" cy="603504"/>
          </a:xfrm>
          <a:prstGeom prst="rect">
            <a:avLst/>
          </a:prstGeom>
          <a:solidFill>
            <a:srgbClr val="243659">
              <a:alpha val="38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648456"/>
            <a:ext cx="77724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648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EQUIPO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664208" y="3593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Confirmar TBDs: UX Writing + UX Copy (Frontend: Gerardo Luna ✓)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4208" y="38679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Product Design + Marketing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3666744"/>
            <a:ext cx="1371600" cy="274320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6667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E7EB"/>
                </a:solidFill>
              </a:rPr>
              <a:t>Jun 30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1520" y="4215384"/>
            <a:ext cx="8321040" cy="603504"/>
          </a:xfrm>
          <a:prstGeom prst="rect">
            <a:avLst/>
          </a:prstGeom>
          <a:solidFill>
            <a:srgbClr val="243659">
              <a:alpha val="38000"/>
            </a:srgbClr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325112"/>
            <a:ext cx="77724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3251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PLANNING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64208" y="4270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78"/>
                </a:solidFill>
              </a:rPr>
              <a:t>Sprint Planning Sprint 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64208" y="45445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Owner: Product Design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06640" y="4343400"/>
            <a:ext cx="1371600" cy="274320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5E7EB"/>
                </a:solidFill>
              </a:rPr>
              <a:t>Jun 30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TIMELINE Q3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1–9  ·  Julio – Septiembre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868680" cy="3108960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Jul 1–10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Foundations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Figma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Style Dict.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57300" y="1508760"/>
            <a:ext cx="868680" cy="3108960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5730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473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Jul 11–20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4874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387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Figma→GitHub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Primer PR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1508760"/>
            <a:ext cx="868680" cy="3108960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9456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2199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Jul 21–31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3113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Setup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Fuente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 Verdad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31820" y="1508760"/>
            <a:ext cx="868680" cy="31089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3182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925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Ago 1–10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2326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839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Componentes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base 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código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69080" y="1508760"/>
            <a:ext cx="868680" cy="31089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6908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9651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Ago 11–20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6052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0565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Componentes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06340" y="1508760"/>
            <a:ext cx="868680" cy="310896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0634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3377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Ago 21–31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9778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291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MCP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Claude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Voz/Tono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1508760"/>
            <a:ext cx="868680" cy="3108960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7103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Sep 1–10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3504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017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paridad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diseño↔cód.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80860" y="1508760"/>
            <a:ext cx="868680" cy="3108960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8086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829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Sep 11–20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97230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1743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QA 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Entrega-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18120" y="1508760"/>
            <a:ext cx="868680" cy="3108960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81812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845552" y="194767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Sep 21–30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909560" y="2240280"/>
            <a:ext cx="6858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54696" y="2331720"/>
            <a:ext cx="7955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Retro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Handoff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Fase 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754880"/>
            <a:ext cx="201168" cy="146304"/>
          </a:xfrm>
          <a:prstGeom prst="rect">
            <a:avLst/>
          </a:prstGeom>
          <a:solidFill>
            <a:srgbClr val="1B5E7A"/>
          </a:solidFill>
          <a:ln w="12700">
            <a:solidFill>
              <a:srgbClr val="1B5E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736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Julio (Foundations + Pipeline)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54680" y="4754880"/>
            <a:ext cx="201168" cy="14630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4736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Agosto (Componentes + IA)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89320" y="4754880"/>
            <a:ext cx="201168" cy="146304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7365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Septiembre (QA + Cierre)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METODOLOGÍA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  ·  Scrumban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157276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Lunes S1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Planning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Selección de backlog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y asignación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 owners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02536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02536" y="1508760"/>
            <a:ext cx="1572768" cy="347472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Mar–Vie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93976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659"/>
                </a:solidFill>
              </a:rPr>
              <a:t>Dailys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85416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3976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Async via Notion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Actualización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 status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85032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85032" y="1508760"/>
            <a:ext cx="1572768" cy="347472"/>
          </a:xfrm>
          <a:prstGeom prst="rect">
            <a:avLst/>
          </a:prstGeom>
          <a:solidFill>
            <a:srgbClr val="2D5A8E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Diario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76472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5A8E"/>
                </a:solidFill>
              </a:rPr>
              <a:t>Backlog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5A8E"/>
                </a:solidFill>
              </a:rPr>
              <a:t>Refinement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67912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WIP límite: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 tareas/área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Flujo continuo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67528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67528" y="1508760"/>
            <a:ext cx="15727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Lunes S2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58968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Entregables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Status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50408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8968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Review 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equipo 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(30 min)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50024" y="1508760"/>
            <a:ext cx="15727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50024" y="1508760"/>
            <a:ext cx="1572768" cy="347472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0024" y="15087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Miérc S2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41464" y="19476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4D"/>
                </a:solidFill>
              </a:rPr>
              <a:t>Retrospectiva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32904" y="2679192"/>
            <a:ext cx="120700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41464" y="2770632"/>
            <a:ext cx="13898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Cada 2 sprints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Documentada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en Notion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Sprint de 10 días hábiles  ·  No hay standups diarios obligatorios  ·  Todo fluye vía Notion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BLOQUEANTES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estas dos decisiones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arranca el Sprint 1.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8321040" cy="1188720"/>
          </a:xfrm>
          <a:prstGeom prst="rect">
            <a:avLst/>
          </a:prstGeom>
          <a:solidFill>
            <a:srgbClr val="24365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Framework 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247802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78"/>
                </a:solidFill>
              </a:rPr>
              <a:t>Tailwind CSS  vs  Vanilla 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1328" y="27249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Desbloquea configuración de Style Dictionary y cómo se consumen los tokens en componentes.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48272" y="222199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22402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OWNER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784848" y="242316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Tecnología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48272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4D"/>
                </a:solidFill>
              </a:rPr>
              <a:t>Jun 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8321040" cy="1188720"/>
          </a:xfrm>
          <a:prstGeom prst="rect">
            <a:avLst/>
          </a:prstGeom>
          <a:solidFill>
            <a:srgbClr val="24365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81328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Herramienta fuente de verdad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895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78"/>
                </a:solidFill>
              </a:rPr>
              <a:t>→ Supernova  ✓  Decidido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41422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Define dónde vivirá la documentación centralizada. Impacta Sprint 3 en adelante.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363931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576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OWNER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84848" y="384048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Tecnología + Product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48272" y="4114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9B4D"/>
                </a:solidFill>
              </a:rPr>
              <a:t>Jun 17 ✓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ROLES PENDIENTES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roles por confirmar  ·  Frontend: Gerardo Luna confirmado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0116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Frontend Developer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19110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Tecnología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16550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Tokens → código · Style Dictionary · Componentes · QA paridad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Quien decide: Tecnología  ✓  Confirmado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911096"/>
            <a:ext cx="25603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91109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Bloquea: 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14600"/>
            <a:ext cx="2011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UX Writing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29169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Cross-equipo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6609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Contenido y microcopy del sistema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606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Quien decide: Por asignar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916936"/>
            <a:ext cx="25603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91693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Bloquea: Sprint 3 docs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20440"/>
            <a:ext cx="20116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UX Copywriting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3922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Cross-equipo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11880" y="3666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Identidad verbal · Voz y tono aplicados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3611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Quien decide: Por asignar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3922776"/>
            <a:ext cx="25603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92277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Bloquea: Sprint 3 docs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MÉTRICAS DE ÉXITO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sabremos que lo logramos?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503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196596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A"/>
                </a:solidFill>
              </a:rPr>
              <a:t>80%+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Tokens mapeados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Tokens primitivos y semánticos de Figma correctamente traducidos a código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508760"/>
            <a:ext cx="196596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51460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Discrepancias críticas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Paridad diseño ↔ código en todos los componentes revisados en QA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508760"/>
            <a:ext cx="196596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A"/>
                </a:solidFill>
              </a:rPr>
              <a:t>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61772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Fuente de verdad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Documentación centralizada, operativa y usada por los 3 equipos al cierre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150876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1508760"/>
            <a:ext cx="19659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100%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72084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Pipeline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3291840"/>
            <a:ext cx="14173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40156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Figma → Style Dictionary → GitHub funcionando con un solo comando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9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PARA CADA EQUIPO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semana: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2651760" cy="3154680"/>
          </a:xfrm>
          <a:prstGeom prst="rect">
            <a:avLst/>
          </a:prstGeom>
          <a:solidFill>
            <a:srgbClr val="24365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98448"/>
            <a:ext cx="26517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2A4A"/>
                </a:solidFill>
              </a:rPr>
              <a:t>MARKETING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" y="1828800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29968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8836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Arrancar Brand Sprint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verificación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6112" y="2706624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907792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7614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Confirmar: UX Writing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UX Copywriting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" y="3584448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785616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36393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Responder encuesta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47872" y="1298448"/>
            <a:ext cx="2651760" cy="3154680"/>
          </a:xfrm>
          <a:prstGeom prst="rect">
            <a:avLst/>
          </a:prstGeom>
          <a:solidFill>
            <a:srgbClr val="243659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1298448"/>
            <a:ext cx="2651760" cy="457200"/>
          </a:xfrm>
          <a:prstGeom prst="rect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2A4A"/>
                </a:solidFill>
              </a:rPr>
              <a:t>PRODUCT DESIGN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12464" y="1828800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76472" y="2029968"/>
            <a:ext cx="274320" cy="274320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6472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42232" y="18836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Auditoría de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 Figma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12464" y="2706624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76472" y="2907792"/>
            <a:ext cx="274320" cy="274320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42232" y="27614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Definir taxonomía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 tokens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12464" y="3584448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76472" y="3785616"/>
            <a:ext cx="274320" cy="274320"/>
          </a:xfrm>
          <a:prstGeom prst="ellipse">
            <a:avLst/>
          </a:prstGeom>
          <a:solidFill>
            <a:srgbClr val="C89B4D"/>
          </a:solidFill>
          <a:ln w="12700">
            <a:solidFill>
              <a:srgbClr val="C89B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76472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42232" y="36393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Setup repo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para tokens globales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64224" y="1298448"/>
            <a:ext cx="2651760" cy="3154680"/>
          </a:xfrm>
          <a:prstGeom prst="rect">
            <a:avLst/>
          </a:prstGeom>
          <a:solidFill>
            <a:srgbClr val="24365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1298448"/>
            <a:ext cx="26517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B2A4A"/>
                </a:solidFill>
              </a:rPr>
              <a:t>TECNOLOGÍA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28816" y="1828800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92824" y="202996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58584" y="1883664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Decidir framework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frontend (deadline Jun 30)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28816" y="2706624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92824" y="2907792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92824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58584" y="27614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Decidir herramienta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fuente de verdad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28816" y="3584448"/>
            <a:ext cx="2322576" cy="749808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92824" y="3785616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58584" y="36393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Confirmar: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UX Writing + UX Copy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" y="4498848"/>
            <a:ext cx="8046720" cy="164592"/>
          </a:xfrm>
          <a:prstGeom prst="rect">
            <a:avLst/>
          </a:prstGeom>
          <a:solidFill>
            <a:srgbClr val="243659"/>
          </a:solidFill>
          <a:ln w="12700">
            <a:solidFill>
              <a:srgbClr val="24365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" y="4498848"/>
            <a:ext cx="8010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</a:rPr>
              <a:t>Backlog en Notion → app.notion.com/p/379009e25df981d183a5ea6141001cb8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Later: Brand System — Kickoff Fase 2</dc:title>
  <dc:subject>PptxGenJS Presentation</dc:subject>
  <dc:creator>Alex Facio</dc:creator>
  <cp:lastModifiedBy>Alex Facio</cp:lastModifiedBy>
  <cp:revision>1</cp:revision>
  <dcterms:created xsi:type="dcterms:W3CDTF">2026-06-18T01:26:58Z</dcterms:created>
  <dcterms:modified xsi:type="dcterms:W3CDTF">2026-06-18T01:26:58Z</dcterms:modified>
</cp:coreProperties>
</file>